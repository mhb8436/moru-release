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n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084832" cy="914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8680" y="2788920"/>
            <a:ext cx="731520" cy="64008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표준프레임워크 위에서
바로 시작하는 공공포털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FD8E3"/>
                </a:solidFill>
                <a:latin typeface="Malgun Gothic"/>
              </a:rPr>
              <a:t>전자정부 표준프레임워크 5.0으로 만든 누리집 CMS와 통합검색, 문서 AI, 위원회 업무 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CFD8E3"/>
                </a:solidFill>
                <a:latin typeface="Malgun Gothic"/>
              </a:rPr>
              <a:t>MORU(모루) 공공포털 플랫폼 v1.1 · 주식회사 크래프틱시스템즈 · 2026년 6월 29일</a:t>
            </a:r>
          </a:p>
        </p:txBody>
      </p:sp>
      <p:pic>
        <p:nvPicPr>
          <p:cNvPr id="8" name="Picture 7" descr="package-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188720"/>
            <a:ext cx="417810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01 한 장으로 보는 MORU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계정부터 문서 AI까지, 처음부터 들어 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1B2733"/>
                </a:solidFill>
                <a:latin typeface="Malgun Gothic"/>
              </a:rPr>
              <a:t>MORU(모루)는 전자정부 표준프레임워크 5.0으로 만든 설치형 제품입니다. 계정과 권한, 게시판, 첨부, 표준사전, 배치, 콘텐츠, 통합검색, 문서 AI가 처음부터 들어 있습니다. 프레임워크만 받아 놓고 개발을 시작할 일이 없습니다. 설치한 뒤 관리 화면에서 기관명과 메뉴, 콘텐츠만 넣으면 그날로 누리집이 열립니다. 누리집 틀은 디지털정부서비스 UI/UX 가이드라인(KRDS)을 따릅니다.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1737360" cy="1600200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55848"/>
            <a:ext cx="1554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Malgun Gothic"/>
              </a:rPr>
              <a:t>20</a:t>
            </a:r>
            <a:r>
              <a:rPr sz="1300" b="1">
                <a:solidFill>
                  <a:srgbClr val="5A6B80"/>
                </a:solidFill>
                <a:latin typeface="Malgun Gothic"/>
              </a:rPr>
              <a:t>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554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관리 화면 — 메뉴 설정부터 보안 점검까지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246120"/>
            <a:ext cx="1737360" cy="1600200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3355848"/>
            <a:ext cx="1554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Malgun Gothic"/>
              </a:rPr>
              <a:t>7</a:t>
            </a:r>
            <a:r>
              <a:rPr sz="1300" b="1">
                <a:solidFill>
                  <a:srgbClr val="5A6B80"/>
                </a:solidFill>
                <a:latin typeface="Malgun Gothic"/>
              </a:rPr>
              <a:t>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069080"/>
            <a:ext cx="1554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게시판 — 공지·FAQ·자료실·갤러리·Q&amp;A·동영상·E-Book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3246120"/>
            <a:ext cx="1737360" cy="1600200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3355848"/>
            <a:ext cx="1554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Malgun Gothic"/>
              </a:rPr>
              <a:t>4</a:t>
            </a:r>
            <a:r>
              <a:rPr sz="1300" b="1">
                <a:solidFill>
                  <a:srgbClr val="5A6B80"/>
                </a:solidFill>
                <a:latin typeface="Malgun Gothic"/>
              </a:rPr>
              <a:t>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4069080"/>
            <a:ext cx="1554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DB — H2 · PostgreSQL · MariaDB · Oracle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3246120"/>
            <a:ext cx="1737360" cy="1600200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39" y="3355848"/>
            <a:ext cx="1554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Malgun Gothic"/>
              </a:rPr>
              <a:t>10</a:t>
            </a:r>
            <a:r>
              <a:rPr sz="1300" b="1">
                <a:solidFill>
                  <a:srgbClr val="5A6B80"/>
                </a:solidFill>
                <a:latin typeface="Malgun Gothic"/>
              </a:rPr>
              <a:t>형식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39" y="4069080"/>
            <a:ext cx="1554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문서 읽기 — HWP·HWPX·HML·PDF·DOCX 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3246120"/>
            <a:ext cx="1737360" cy="1600200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3355848"/>
            <a:ext cx="1554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Malgun Gothic"/>
              </a:rPr>
              <a:t>139</a:t>
            </a:r>
            <a:r>
              <a:rPr sz="1300" b="1">
                <a:solidFill>
                  <a:srgbClr val="5A6B80"/>
                </a:solidFill>
                <a:latin typeface="Malgun Gothic"/>
              </a:rPr>
              <a:t>·119건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4069080"/>
            <a:ext cx="1554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자동화 시험 core · ai, UI 시나리오 70건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3246120"/>
            <a:ext cx="1737360" cy="1600200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554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Malgun Gothic"/>
              </a:rPr>
              <a:t>100</a:t>
            </a:r>
            <a:r>
              <a:rPr sz="1300" b="1">
                <a:solidFill>
                  <a:srgbClr val="5A6B80"/>
                </a:solidFill>
                <a:latin typeface="Malgun Gothic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4069080"/>
            <a:ext cx="1554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표준사전 준수율 — 물리 컬럼 254개 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120640"/>
            <a:ext cx="73152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93792"/>
            <a:ext cx="106984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E2A47"/>
                </a:solidFill>
                <a:latin typeface="Malgun Gothic"/>
              </a:rPr>
              <a:t>‘설치 0’ — 환경변수를 하나도 설정하지 않은 상태  </a:t>
            </a:r>
            <a:r>
              <a:rPr sz="1300" b="0">
                <a:solidFill>
                  <a:srgbClr val="1B2733"/>
                </a:solidFill>
                <a:latin typeface="Malgun Gothic"/>
              </a:rPr>
              <a:t>./deploy/run.sh 한 번으로 프로세스 세 개가 뜹니다. 로컬 DB는 H2 파일(PostgreSQL 모드), 색인은 SQLite + BM25, 형태소는 Kiwi(pip)로 가릅니다. 도커도, 따로 사 와야 하는 소프트웨어도 없습니다. 기관 요구가 있을 때만 어댑터를 환경변수로 켜면 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02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표준프레임워크는 뼈대일 뿐, 살은 사업마다 다시 붙였습니다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B2733"/>
                </a:solidFill>
                <a:latin typeface="Malgun Gothic"/>
              </a:rPr>
              <a:t>표준프레임워크는 프레임워크일 뿐, 그대로 쓸 수 있는 제품은 아닙니다. 그래서 사업마다 계정과 권한, 게시판, 첨부파일, 표준사전, 배치를 처음부터 다시 만들어 왔습니다. MORU는 그 일을 미리 해 둔 제품입니다.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5394960" cy="3017520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A6B80"/>
                </a:solidFill>
                <a:latin typeface="Malgun Gothic"/>
              </a:rPr>
              <a:t>사업마다 다시 만들던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50292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1B2733"/>
                </a:solidFill>
                <a:latin typeface="Malgun Gothic"/>
              </a:rPr>
              <a:t>계정·인증 · 권한(역할) · 조직·사용자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1B2733"/>
                </a:solidFill>
                <a:latin typeface="Malgun Gothic"/>
              </a:rPr>
              <a:t>게시판 엔진 · 첨부파일 검사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1B2733"/>
                </a:solidFill>
                <a:latin typeface="Malgun Gothic"/>
              </a:rPr>
              <a:t>코드 · 표준사전 · 배치 · 감사로그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1B2733"/>
                </a:solidFill>
                <a:latin typeface="Malgun Gothic"/>
              </a:rPr>
              <a:t>메뉴 · 콘텐츠 검수 · 회원 · 다국어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1B2733"/>
                </a:solidFill>
                <a:latin typeface="Malgun Gothic"/>
              </a:rPr>
              <a:t>통합검색 · 문서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017520"/>
            <a:ext cx="5394960" cy="3017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1546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algun Gothic"/>
              </a:rPr>
              <a:t>MORU에 이미 들어 있는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11880"/>
            <a:ext cx="50292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기능 블록 25개 + v1.0 추가 4개 + 업무 팩 1종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CFD8E3"/>
                </a:solidFill>
                <a:latin typeface="Malgun Gothic"/>
              </a:rPr>
              <a:t>core 10 · portal 10 · ai 5 · 게시판 7유형 · 관리자 20탭 · 위원회 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CFD8E3"/>
                </a:solidFill>
                <a:latin typeface="Malgun Gothic"/>
              </a:rPr>
              <a:t>이름은 대장간에서 달군 쇠를 올려놓고 두드리는 받침쇠 ‘모루’에서 따왔습니다. 기관마다 이 받침 위에서 제 누리집을 벼려 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03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프로세스 셋, 바깥 제품은 어댑터로 붙입니다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356616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E2A47"/>
                </a:solidFill>
                <a:latin typeface="Malgun Gothic"/>
              </a:rPr>
              <a:t>MORU portal  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Next.js ·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B2733"/>
                </a:solidFill>
                <a:latin typeface="Malgun Gothic"/>
              </a:rPr>
              <a:t>누리집 · 검색 · 문서 AI · 관리자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B2733"/>
                </a:solidFill>
                <a:latin typeface="Malgun Gothic"/>
              </a:rPr>
              <a:t>CSP nonce · DOMPurify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B2733"/>
                </a:solidFill>
                <a:latin typeface="Malgun Gothic"/>
              </a:rPr>
              <a:t>정부24와 같은 KRDS 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645920"/>
            <a:ext cx="3566160" cy="3291840"/>
          </a:xfrm>
          <a:prstGeom prst="rect">
            <a:avLst/>
          </a:prstGeom>
          <a:solidFill>
            <a:srgbClr val="0E2A47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7830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</a:rPr>
              <a:t>MORU core  :8080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2402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Malgun Gothic"/>
              </a:rPr>
              <a:t>전자정부 표준프레임워크 5.0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69748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CFD8E3"/>
                </a:solidFill>
                <a:latin typeface="Malgun Gothic"/>
              </a:rPr>
              <a:t>Spring Boot 3.5 · Tomcat 10 · Java 17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CFD8E3"/>
                </a:solidFill>
                <a:latin typeface="Malgun Gothic"/>
              </a:rPr>
              <a:t>MyBatis · Flyway · 계정·권한·게시판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CFD8E3"/>
                </a:solidFill>
                <a:latin typeface="Malgun Gothic"/>
              </a:rPr>
              <a:t>콘텐츠·표준사전·감사로그·배치·알림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CFD8E3"/>
                </a:solidFill>
                <a:latin typeface="Malgun Gothic"/>
              </a:rPr>
              <a:t>/api/ai/** 는 사이드카 프록시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645920"/>
            <a:ext cx="356616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17830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E2A47"/>
                </a:solidFill>
                <a:latin typeface="Malgun Gothic"/>
              </a:rPr>
              <a:t>MORU ai  :8800 (선택)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2402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FastAPI — 검색·벡터·LLM 어댑터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69748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B2733"/>
                </a:solidFill>
                <a:latin typeface="Malgun Gothic"/>
              </a:rPr>
              <a:t>색인 SQLite+BM25 → OpenSearch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B2733"/>
                </a:solidFill>
                <a:latin typeface="Malgun Gothic"/>
              </a:rPr>
              <a:t>벡터 미사용 → pgvector · kNN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B2733"/>
                </a:solidFill>
                <a:latin typeface="Malgun Gothic"/>
              </a:rPr>
              <a:t>LLM 미사용 → Ollama · vLLM · OpenAI 규격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B2733"/>
                </a:solidFill>
                <a:latin typeface="Malgun Gothic"/>
              </a:rPr>
              <a:t>형태소 Kiwi → Nori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5120640"/>
            <a:ext cx="35661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5193792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Malgun Gothic"/>
              </a:rPr>
              <a:t>DB — 기본 PostgreSQL · 로컬 H2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Malgun Gothic"/>
              </a:rPr>
              <a:t>어댑터 MariaDB · Oracle/Tibero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3657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A6B80"/>
                </a:solidFill>
                <a:latin typeface="Malgun Gothic"/>
              </a:rPr>
              <a:t>사이드카를 끈 상태에서도 core와 portal은 정상 동작합니다. 화살표 왼쪽이 기본값, 오른쪽은 기관 요구가 있을 때 켜는 어댑터입니다.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04 누리집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정부24처럼 생긴 누리집 — 기관명과 메뉴, 콘텐츠만 넣으면 열립니다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5</a:t>
            </a:r>
          </a:p>
        </p:txBody>
      </p:sp>
      <p:pic>
        <p:nvPicPr>
          <p:cNvPr id="9" name="Picture 8" descr="01-메인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  <a:ln w="9525">
            <a:solidFill>
              <a:srgbClr val="C9D1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772400" y="1600200"/>
            <a:ext cx="393192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1B2733"/>
                </a:solidFill>
                <a:latin typeface="Malgun Gothic"/>
              </a:rPr>
              <a:t>KRDS 틀 — 마스트헤드 · 정부24와 같은 상단과 주메뉴 · 푸터. 하위 페이지는 현재 경로 + 왼쪽 메뉴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1B2733"/>
                </a:solidFill>
                <a:latin typeface="Malgun Gothic"/>
              </a:rPr>
              <a:t>기관명, 문구, 테마 색, 레이아웃은 ‘사이트·템플릿’ 탭에서 관리하는 데이터입니다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1B2733"/>
                </a:solidFill>
                <a:latin typeface="Malgun Gothic"/>
              </a:rPr>
              <a:t>빈 DB에도 기관 초기 팩(게시판 7종 · 표준 메뉴 18 · 정책 페이지 8종)이 먼저 들어가 첫 기동부터 누리집이 열립니다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1B2733"/>
                </a:solidFill>
                <a:latin typeface="Malgun Gothic"/>
              </a:rPr>
              <a:t>상단 검색창에서 게시물과 기관 문서 본문을 한 번에 검색합니다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1B2733"/>
                </a:solidFill>
                <a:latin typeface="Malgun Gothic"/>
              </a:rPr>
              <a:t>한국어 · 영어 전 페이지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05 누리집 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메뉴도 콘텐츠도 게시판도, 코드 고치지 않고 관리 화면에서 바꿉니다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6</a:t>
            </a:r>
          </a:p>
        </p:txBody>
      </p:sp>
      <p:pic>
        <p:nvPicPr>
          <p:cNvPr id="9" name="Picture 8" descr="08-관리자-콘텐츠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86400" cy="4951476"/>
          </a:xfrm>
          <a:prstGeom prst="rect">
            <a:avLst/>
          </a:prstGeom>
          <a:ln w="9525">
            <a:solidFill>
              <a:srgbClr val="C9D1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6624828"/>
            <a:ext cx="54864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관리자 → 콘텐츠 — 언어(ko/en), 상태(초안·게시 중·보관), 버전, 담당자, 게시일, 출력 기간을 한 줄에 표시합니다.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160020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886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메뉴 · 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2단계 트리 구조. 기기별·역할별 노출 설정, 담당자 지정, 순서·위치 변경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콘텐츠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편집기 → 승인 요청 → 게시/반려 → 보관. 저장할 때마다 버전이 남고 되돌릴 수 있습니다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게시판 7유형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공지 · FAQ · 자료실 · 포토갤러리 · 묻고 답하기 · 동영상 · E-Book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첨부파일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확장자 · MIME · 파일 시그니처 3중 검사. ClamAV 연계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회원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가입 · 약관 동의 이력 · 내 정보 · 비밀번호 재설정 · 탈퇴 · 본인확인 연계점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다국어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한국어 · 영어. 콘텐츠는 언어별 행, 메뉴·문구는 번역 표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알림 · 개방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포털 알림 · 메일 · SMS(log·http·sens·db) / X-API-Key · 일일 한도 · OpenAPI 3.0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06 화면 부품 — KRDS React 45종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화면마다 새로 짜지 않고, 부품 45종으로 조립합니다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7</a:t>
            </a:r>
          </a:p>
        </p:txBody>
      </p:sp>
      <p:pic>
        <p:nvPicPr>
          <p:cNvPr id="9" name="Picture 8" descr="18-부품문서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852160" cy="3386938"/>
          </a:xfrm>
          <a:prstGeom prst="rect">
            <a:avLst/>
          </a:prstGeom>
          <a:ln w="9525">
            <a:solidFill>
              <a:srgbClr val="C9D1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060290"/>
            <a:ext cx="58521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부품 문서 화면 — 제품 안 /ui 에 있습니다. 부품마다 한 줄 설명과 예제, 코드, ‘이럴 때 쓴다 · 이럴 때 쓰지 않는다’, 변형, 속성 표를 적어 두었습니다.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75120" y="160020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703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부품 45종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누리집 틀 9 · 입력 10 · 자료 5 · 상태 9 · 겹침 4 · 펼침 4 · 그 밖에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조립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누리집도 관리 화면도 이 부품으로 조립합니다. portal 안에서 부품을 가져다 쓰는 자리가 82곳입니다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보충 13종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드로어 · 토스트 · 콤보박스 · 컨텍스트 메뉴 · 정렬되는 데이터 표 — KRDS 킷이 다루지 않는 업무 화면용 부품을 토큰만 써서 채웠습니다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관리 화면 11개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‘등록’을 누르면 입력칸이 10개가 넘는 화면은 화면 자체가 바뀌고 그보다 적으면 모달이 열립니다. 주소가 함께 바뀌므로 새로 고쳐도 내용이 남습니다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서버 렌더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45종 가운데 31종은 서버에서 그려, 첫 화면이 자바스크립트를 기다리지 않습니다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접근성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건너뛰기 링크 · 키보드 조작 · 표 caption · 폼 label 을 부품이 안고 있습니다. axe-core 로 공개 · 관리 화면 26면 점검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따로 공개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moru-krds-react — MIT. npm i krds-uiux moru-krds-react. 프레임워크에 닿는 자리는 lib/link.tsx 하나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07 통합검색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HWP를 읽고, 게시물과 기관 문서 본문을 한 번에 검색합니다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8</a:t>
            </a:r>
          </a:p>
        </p:txBody>
      </p:sp>
      <p:pic>
        <p:nvPicPr>
          <p:cNvPr id="9" name="Picture 8" descr="02-통합검색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217920" cy="3886200"/>
          </a:xfrm>
          <a:prstGeom prst="rect">
            <a:avLst/>
          </a:prstGeom>
          <a:ln w="9525">
            <a:solidFill>
              <a:srgbClr val="C9D1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559552"/>
            <a:ext cx="62179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통합검색 — 시연 데이터(가상 기관 ‘국립문서정보연구원’) 문서 9건 · 조각 21개에서 ‘기록’ 검색에 4ms가 걸렸습니다. 찾은 말은 본문 발췌에서 노란색으로 짚어 줍니다.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600200"/>
            <a:ext cx="4480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E2A47"/>
                </a:solidFill>
                <a:latin typeface="Malgun Gothic"/>
              </a:rPr>
              <a:t>HWP 세 가지 형식을 외부 라이브러리 없이 읽습니다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4805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>
                <a:solidFill>
                  <a:srgbClr val="1B2733"/>
                </a:solidFill>
                <a:latin typeface="Malgun Gothic"/>
              </a:rPr>
              <a:t>HWP 5.0(OLE), HWPX(ZIP+XML), HWPML(XML) 세 형식을 읽으며, 확장자보다 파일 내용(매직바이트)을 먼저 확인합니다. 공공 문서에는 확장자가 .hwp이지만 실제 내용은 HWPML인 파일, .hwpx이지만 OLE 형식인 파일, .txt 확장자를 가진 HWPX 파일까지 실제로 존재합니다. 이 밖에 PDF, DOCX, XLSX, CSV, TXT, MD, JSON 파일도 읽을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80560"/>
            <a:ext cx="44805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300" b="0">
                <a:solidFill>
                  <a:srgbClr val="1B2733"/>
                </a:solidFill>
                <a:latin typeface="Malgun Gothic"/>
              </a:rPr>
              <a:t>기본 색인 SQLite + BM25 — 별도 검색엔진 없이 동작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300" b="0">
                <a:solidFill>
                  <a:srgbClr val="1B2733"/>
                </a:solidFill>
                <a:latin typeface="Malgun Gothic"/>
              </a:rPr>
              <a:t>OpenSearch(nori) · Elasticsearch 어댑터로 전환 가능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300" b="0">
                <a:solidFill>
                  <a:srgbClr val="1B2733"/>
                </a:solidFill>
                <a:latin typeface="Malgun Gothic"/>
              </a:rPr>
              <a:t>표준용어 사전을 검색엔진 사용자 사전으로 공유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08 문서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답변 문장마다 근거를 붙이며, LLM은 끌 수 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9</a:t>
            </a:r>
          </a:p>
        </p:txBody>
      </p:sp>
      <p:pic>
        <p:nvPicPr>
          <p:cNvPr id="9" name="Picture 8" descr="03-문서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669280" cy="4329913"/>
          </a:xfrm>
          <a:prstGeom prst="rect">
            <a:avLst/>
          </a:prstGeom>
          <a:ln w="9525">
            <a:solidFill>
              <a:srgbClr val="C9D1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6003265"/>
            <a:ext cx="56692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문서 AI — LLM 키가 없는 상태(모드 extract)입니다. 답변 문장마다 ⟦근거 확인⟧ 표시와 출처 번호 [1]·[2]가 붙습니다. 신뢰도 100% · 54ms.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00200"/>
            <a:ext cx="50292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>
                <a:solidFill>
                  <a:srgbClr val="1B2733"/>
                </a:solidFill>
                <a:latin typeface="Malgun Gothic"/>
              </a:rPr>
              <a:t>답변의 각 문장은 검색된 문서 조각과 대조해 ⟦근거 확인⟧, ⟦부분 확인⟧, ⟦근거 없음⟧으로 표시합니다. 숫자, 부정어, 기관명이 출처와 다르면 ⟦부분 확인⟧으로 판정합니다.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75120" y="3017520"/>
          <a:ext cx="502919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2A47"/>
                          </a:solidFill>
                          <a:latin typeface="Malgun Gothic"/>
                        </a:rPr>
                        <a:t>자동 auto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3"/>
                          </a:solidFill>
                          <a:latin typeface="Malgun Gothic"/>
                        </a:rPr>
                        <a:t>LLM 키가 있으면 생성 방식으로, 없으면 추출 방식으로 자동 전환합니다.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2A47"/>
                          </a:solidFill>
                          <a:latin typeface="Malgun Gothic"/>
                        </a:rPr>
                        <a:t>추출 extract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3"/>
                          </a:solidFill>
                          <a:latin typeface="Malgun Gothic"/>
                        </a:rPr>
                        <a:t>근거 문장만 뽑아서 답합니다. 새로운 문장은 생성하지 않습니다.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2A47"/>
                          </a:solidFill>
                          <a:latin typeface="Malgun Gothic"/>
                        </a:rPr>
                        <a:t>룰 기반 rule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3"/>
                          </a:solidFill>
                          <a:latin typeface="Malgun Gothic"/>
                        </a:rPr>
                        <a:t>관리자가 등록한 시나리오로만 답합니다 — LLM 사용이 금지된 사업에 적합합니다.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75120" y="4846320"/>
            <a:ext cx="50292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250" b="0">
                <a:solidFill>
                  <a:srgbClr val="1B2733"/>
                </a:solidFill>
                <a:latin typeface="Malgun Gothic"/>
              </a:rPr>
              <a:t>AI 게이트웨이(core 내장) — 개인정보 마스킹 · 일일 쿼터 · 서킷브레이커 · DMZ 중계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250" b="0">
                <a:solidFill>
                  <a:srgbClr val="1B2733"/>
                </a:solidFill>
                <a:latin typeface="Malgun Gothic"/>
              </a:rPr>
              <a:t>포털은 사이드카를 직접 호출하지 않습니다 — core 프록시의 /api/ai/chat만 개방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09 기본값과 어댑터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기본값으로 바로 동작하고, 기관 요구가 있을 때만 어댑터를 켭니다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6492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층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기본 (설치 0)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어댑터 (환경변수로 켜기)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PostgreSQL (운영) · H2 (로컬)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MariaDB · Oracle/Tibero — Flyway 벤더 폴더 + MyBatis databaseId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색인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SQLite + BM25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OpenSearch(nori) · Elasticsearch — MORU_SEARCH_BACKEND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벡터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사용하지 않음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pgvector · sqlite-vec · OpenSearch kNN — MORU_VECTOR_STORE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임베딩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/v1/embeddings 규격(Ollama · vLLM · OpenAI). 실측 모델 bge-m3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LLM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사용하지 않음 (추출 모드)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OpenAI 호환 엔드포인트 — MORU_LLM_API_KEY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형태소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Kiwi(사이드카)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Nori(엔진). 표준용어 사전을 양쪽 사용자 사전으로 공유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SMS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log(기록만)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http(기관 REST) · sens(네이버 클라우드) · db(문자 서버 발송 테이블)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5A6B80"/>
                </a:solidFill>
                <a:latin typeface="Malgun Gothic"/>
              </a:rPr>
              <a:t>벡터 검색을 켜면 BM25 결과와 RRF 방식으로 결합한 하이브리드 검색으로 동작합니다. LLM 사용이 금지된 사업에서는 벡터 검색까지 끄고 BM25만 유지할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10 업무 팩 1 — 위원회 회의 · 안건 · 의결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위원회를 게시판이 아니라 규칙이 있는 업무로 다룹니다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11</a:t>
            </a:r>
          </a:p>
        </p:txBody>
      </p:sp>
      <p:pic>
        <p:nvPicPr>
          <p:cNvPr id="9" name="Picture 8" descr="06-위원회-회의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669280" cy="4329913"/>
          </a:xfrm>
          <a:prstGeom prst="rect">
            <a:avLst/>
          </a:prstGeom>
          <a:ln w="9525">
            <a:solidFill>
              <a:srgbClr val="C9D1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6003265"/>
            <a:ext cx="56692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공개 페이지 — 정보화추진위원회 제1차 — 안건 3건의 결과·표수, 문서 번호 INFO-STRATEGY-2026-001 의결서, ⟦위변조 확인: 이상 없음⟧.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75120" y="160020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931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정족수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출석 정족수는 재적 대비 비율, 의결 정족수는 출석 대비 비율로 계산합니다.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법정기한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소집 통지는 회의 7일 전, 안건 송부는 회의 3일 전까지. 넘기면 차단하지 않고 ‘지연’으로 표시합니다.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가부동수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부결, 위원장 결정, 보류 중 하나를 위원회 규정에 따라 정합니다.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서면의결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응답 정족수와 찬성 정족수를 각각 계산하는 이중 정족수. 위원은 위원 포털에서 표결합니다.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의결서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문서 번호를 부여하고 본문 해시를 저장. 공개 페이지를 열 때마다 해시를 다시 계산해 ⟦이상 없음⟧ 또는 ⟦변조 의심⟧을 표시합니다.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E2A47"/>
                          </a:solidFill>
                          <a:latin typeface="Malgun Gothic"/>
                        </a:rPr>
                        <a:t>화면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733"/>
                          </a:solidFill>
                          <a:latin typeface="Malgun Gothic"/>
                        </a:rPr>
                        <a:t>관리 탭 1면 · 공개 3면 · 위원 2면 · 한국어/영어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75120" y="5623560"/>
            <a:ext cx="5029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A6B80"/>
                </a:solidFill>
                <a:latin typeface="Malgun Gothic"/>
              </a:rPr>
              <a:t>시험 12건이 H2 · PostgreSQL · MariaDB · 실제 Oracle 환경에서 모두 통과했습니다. 다음 팩 후보 — 디지털 아카이브.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11 관리자 화면 20탭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운영에 쓸 화면이 처음부터 다 들어 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배치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645920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645920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사용자·권한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45920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45920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조직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645920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645920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감사로그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645920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645920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접속로그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59152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59152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코드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2359152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359152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표준사전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359152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359152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게시판 정의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2359152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2359152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메뉴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2359152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359152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콘텐츠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72384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072384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사이트·템플릿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3072384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3072384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팝업·배너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072384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072384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접속 통계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3072384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3072384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개방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3072384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072384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785615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785615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필터링 단어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3785615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88920" y="3785615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SMS 발송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3785615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0" y="3785615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알림 보내기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3785615"/>
            <a:ext cx="210312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9480" y="3785615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Malgun Gothic"/>
              </a:rPr>
              <a:t>위원회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3785615"/>
            <a:ext cx="2103120" cy="566928"/>
          </a:xfrm>
          <a:prstGeom prst="rect">
            <a:avLst/>
          </a:prstGeom>
          <a:solidFill>
            <a:srgbClr val="0E2A47"/>
          </a:solidFill>
          <a:ln w="952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3785615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보안 점검</a:t>
            </a:r>
          </a:p>
        </p:txBody>
      </p:sp>
      <p:pic>
        <p:nvPicPr>
          <p:cNvPr id="49" name="Picture 48" descr="10-관리자-표준사전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0"/>
            <a:ext cx="1925053" cy="1737360"/>
          </a:xfrm>
          <a:prstGeom prst="rect">
            <a:avLst/>
          </a:prstGeom>
          <a:ln w="9525">
            <a:solidFill>
              <a:srgbClr val="C9D1DC"/>
            </a:solidFill>
          </a:ln>
        </p:spPr>
      </p:pic>
      <p:sp>
        <p:nvSpPr>
          <p:cNvPr id="50" name="TextBox 49"/>
          <p:cNvSpPr txBox="1"/>
          <p:nvPr/>
        </p:nvSpPr>
        <p:spPr>
          <a:xfrm>
            <a:off x="3749039" y="4572000"/>
            <a:ext cx="7955279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0E2A47"/>
                </a:solidFill>
                <a:latin typeface="Malgun Gothic"/>
              </a:rPr>
              <a:t>표준사전 — </a:t>
            </a:r>
            <a:r>
              <a:rPr sz="1300" b="0">
                <a:solidFill>
                  <a:srgbClr val="1B2733"/>
                </a:solidFill>
                <a:latin typeface="Malgun Gothic"/>
              </a:rPr>
              <a:t>행정안전부 공통표준단어로 지은 물리 컬럼 254개. 관리자 → 표준사전 → ‘MORU 스키마 준수율’에서 스키마 전체를 검사합니다(v1.1은 100%). 기관의 CREATE TABLE 문을 붙여 넣으면 컬럼명을 단어·약어 단위로 분리해 준수 여부를 판정하고 대안 이름을 제시합니다.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0E2A47"/>
                </a:solidFill>
                <a:latin typeface="Malgun Gothic"/>
              </a:rPr>
              <a:t>역할 — </a:t>
            </a:r>
            <a:r>
              <a:rPr sz="1300" b="0">
                <a:solidFill>
                  <a:srgbClr val="1B2733"/>
                </a:solidFill>
                <a:latin typeface="Malgun Gothic"/>
              </a:rPr>
              <a:t>콘텐츠 탭은 EDITOR(콘텐츠담당자)부터, 보안 점검은 ADMIN만, 나머지는 MANAGER 이상이 씁니다.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12 보안 · 운영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설정값만 보고 넘기지 않고, 자기 자신에게 요청을 보내 잽니다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13</a:t>
            </a:r>
          </a:p>
        </p:txBody>
      </p:sp>
      <p:pic>
        <p:nvPicPr>
          <p:cNvPr id="9" name="Picture 8" descr="11-관리자-보안점검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86400" cy="4951476"/>
          </a:xfrm>
          <a:prstGeom prst="rect">
            <a:avLst/>
          </a:prstGeom>
          <a:ln w="9525">
            <a:solidFill>
              <a:srgbClr val="C9D1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6624828"/>
            <a:ext cx="54864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Malgun Gothic"/>
              </a:rPr>
              <a:t>보안 점검 — 항목마다 상태와 상세, 조치 방법을 함께 보여 줍니다. 개발 프로파일이므로 ‘세션 쿠키 Secure’ 항목이 경고로 표시된 상태입니다.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160020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8404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2A47"/>
                          </a:solidFill>
                          <a:latin typeface="Malgun Gothic"/>
                        </a:rPr>
                        <a:t>CSRF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3"/>
                          </a:solidFill>
                          <a:latin typeface="Malgun Gothic"/>
                        </a:rPr>
                        <a:t>토큰 없는 POST 요청이 403으로 거부되는지 확인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2A47"/>
                          </a:solidFill>
                          <a:latin typeface="Malgun Gothic"/>
                        </a:rPr>
                        <a:t>비밀번호 정책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3"/>
                          </a:solidFill>
                          <a:latin typeface="Malgun Gothic"/>
                        </a:rPr>
                        <a:t>취약한 비밀번호가 400으로 거부되는지 확인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2A47"/>
                          </a:solidFill>
                          <a:latin typeface="Malgun Gothic"/>
                        </a:rPr>
                        <a:t>보안 헤더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3"/>
                          </a:solidFill>
                          <a:latin typeface="Malgun Gothic"/>
                        </a:rPr>
                        <a:t>응답에 보안 헤더가 실제로 포함되는지 확인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2A47"/>
                          </a:solidFill>
                          <a:latin typeface="Malgun Gothic"/>
                        </a:rPr>
                        <a:t>오류 노출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3"/>
                          </a:solidFill>
                          <a:latin typeface="Malgun Gothic"/>
                        </a:rPr>
                        <a:t>500 응답에 스택트레이스가 노출되지 않는지 확인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2A47"/>
                          </a:solidFill>
                          <a:latin typeface="Malgun Gothic"/>
                        </a:rPr>
                        <a:t>CORS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3"/>
                          </a:solidFill>
                          <a:latin typeface="Malgun Gothic"/>
                        </a:rPr>
                        <a:t>허용되지 않은 오리진이 거부되는지 확인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92240" y="3977639"/>
            <a:ext cx="52120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250" b="0">
                <a:solidFill>
                  <a:srgbClr val="1B2733"/>
                </a:solidFill>
                <a:latin typeface="Malgun Gothic"/>
              </a:rPr>
              <a:t>감사로그 해시 체인 — 수정·삭제하면 그 지점부터 검증이 실패. 하루 1회 배치가 검증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250" b="0">
                <a:solidFill>
                  <a:srgbClr val="1B2733"/>
                </a:solidFill>
                <a:latin typeface="Malgun Gothic"/>
              </a:rPr>
              <a:t>관리자 접근통제 — 허용 IP·CIDR 목록, RFC 6238 TOTP 2차 인증을 역할별 필수 지정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250" b="0">
                <a:solidFill>
                  <a:srgbClr val="1B2733"/>
                </a:solidFill>
                <a:latin typeface="Malgun Gothic"/>
              </a:rPr>
              <a:t>업로드 — 3중 검사 + ClamAV INSTREAM. 데몬이 멈추면 409로 차단(fail-closed)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250" b="0">
                <a:solidFill>
                  <a:srgbClr val="1B2733"/>
                </a:solidFill>
                <a:latin typeface="Malgun Gothic"/>
              </a:rPr>
              <a:t>블랙박스 점검 deploy/security-check.sh — 행안부 웹 취약점 기준 24개 항목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250" b="0">
                <a:solidFill>
                  <a:srgbClr val="1B2733"/>
                </a:solidFill>
                <a:latin typeface="Malgun Gothic"/>
              </a:rPr>
              <a:t>배포물 — run/stop/backup/restore/healthcheck · systemd 유닛 3개 · nginx TLS 설정 · 매뉴얼 3종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13 실행환경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전자정부 표준프레임워크 5.0 — 정확히 알아야 할 사실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5097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실행환경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org.egovframe.rte 5.0.0(egovframe-rte-*) — MVC · 데이터접근 · 공통기반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서비스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모든 서비스는 EgovAbstractServiceImpl을 상속받습니다.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데이터접근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실행환경 @EgovMapper 스캐너가 등록하는 MyBatis 매퍼 — resources/egovframework/mapper/*_SQL.xml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스키마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Flyway V1~V12가 빈 DB에 테이블 36개를 생성합니다. 벤더별 SQL 폴더 4종(h2·postgresql·mariadb·oracle) 제공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벤더 차이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공통 SQL 1종을 기준으로, 벤더마다 달라지는 문장만 MyBatis databaseId로 재정의합니다.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Malgun Gothic"/>
                        </a:rPr>
                        <a:t>Spring Boot 3.5 내장 Tomcat 10 · Java 17 · Maven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4754880"/>
            <a:ext cx="11064240" cy="1417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754880"/>
            <a:ext cx="73152" cy="14173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9848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E2A47"/>
                </a:solidFill>
                <a:latin typeface="Malgun Gothic"/>
              </a:rPr>
              <a:t>5.0 실행환경은 공식 Maven 저장소에 없습니다  </a:t>
            </a:r>
            <a:r>
              <a:rPr sz="1300" b="0">
                <a:solidFill>
                  <a:srgbClr val="1B2733"/>
                </a:solidFill>
                <a:latin typeface="Malgun Gothic"/>
              </a:rPr>
              <a:t>5.0은 Spring Framework 6.2와 jakarta 서블릿 6.0 세대이므로 내장 WAS는 Tomcat 10입니다. 공식 Maven 저장소(maven.egovframe.go.kr)에는 5.0이 올라와 있지 않아(2026-08-29 확인), MORU는 GitHub 공개 소스(v5.0.1-FINAL)를 빌드해 함께 배포합니다. 발주 문서에 ‘표준프레임워크 4.3’이 명시되어 있다면, 착수 시점에 5.0 상향을 발주기관 승인으로 확정합니다.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A6B80"/>
                </a:solidFill>
                <a:latin typeface="Malgun Gothic"/>
              </a:rPr>
              <a:t>14 도입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E2A47"/>
                </a:solidFill>
                <a:latin typeface="Malgun Gothic"/>
              </a:rPr>
              <a:t>빈 PostgreSQL 하나와 환경변수 여섯 개로 시작합니다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548640" cy="54864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47472"/>
            <a:ext cx="102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MORU(모루) 공공포털 플랫폼 v1.1 · 주식회사 크래프틱시스템즈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Malgun Gothic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6035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7548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2A47"/>
                          </a:solidFill>
                          <a:latin typeface="Malgun Gothic"/>
                        </a:rPr>
                        <a:t>① 서버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733"/>
                          </a:solidFill>
                          <a:latin typeface="Malgun Gothic"/>
                        </a:rPr>
                        <a:t>Java 17 · Python 3 · Node.js를 준비합니다. 인터넷이 차단된 망이면 core JAR · portal 빌드 · ai venv를 묶어 반입합니다.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2A47"/>
                          </a:solidFill>
                          <a:latin typeface="Malgun Gothic"/>
                        </a:rPr>
                        <a:t>② DB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733"/>
                          </a:solidFill>
                          <a:latin typeface="Malgun Gothic"/>
                        </a:rPr>
                        <a:t>비어 있는 PostgreSQL DB(또는 MariaDB, Oracle) 하나를 준비하면 처음 실행할 때 Flyway가 테이블 36개를 만듭니다.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2A47"/>
                          </a:solidFill>
                          <a:latin typeface="Malgun Gothic"/>
                        </a:rPr>
                        <a:t>③ 환경변수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733"/>
                          </a:solidFill>
                          <a:latin typeface="Malgun Gothic"/>
                        </a:rPr>
                        <a:t>여섯 개만 설정하면 됩니다. 나머지는 기본값으로 동작합니다.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2A47"/>
                          </a:solidFill>
                          <a:latin typeface="Malgun Gothic"/>
                        </a:rPr>
                        <a:t>④ 등록 · 확인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733"/>
                          </a:solidFill>
                          <a:latin typeface="Malgun Gothic"/>
                        </a:rPr>
                        <a:t>deploy/install.sh로 systemd에 등록한 뒤 healthcheck.sh 실행 → 첫 관리자로 로그인 → ‘보안 점검’ 탭에서 실패 0건을 확인합니다.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0" y="1600200"/>
            <a:ext cx="4846320" cy="25146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691640"/>
            <a:ext cx="45720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E6EDF5"/>
                </a:solidFill>
                <a:latin typeface="Malgun Gothic"/>
              </a:rPr>
              <a:t>SPRING_PROFILES_ACTIVE=prod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E6EDF5"/>
                </a:solidFill>
                <a:latin typeface="Malgun Gothic"/>
              </a:rPr>
              <a:t>MORU_DB_URL=jdbc:postgresql://&lt;host&gt;:5432/moru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E6EDF5"/>
                </a:solidFill>
                <a:latin typeface="Malgun Gothic"/>
              </a:rPr>
              <a:t>MORU_DB_USER=…  MORU_DB_PASSWORD=…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E6EDF5"/>
                </a:solidFill>
                <a:latin typeface="Malgun Gothic"/>
              </a:rPr>
              <a:t>MORU_AI_TOKEN=…            # 사이드카 토큰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E6EDF5"/>
                </a:solidFill>
                <a:latin typeface="Malgun Gothic"/>
              </a:rPr>
              <a:t>MORU_INGEST_ROOTS=/data/docs   # 색인 폴더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E6EDF5"/>
                </a:solidFill>
                <a:latin typeface="Malgun Gothic"/>
              </a:rPr>
              <a:t>MORU_ADMIN_ID=…  MORU_ADMIN_PASSWORD=…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E2A47"/>
                </a:solidFill>
                <a:latin typeface="Malgun Gothic"/>
              </a:rPr>
              <a:t>도입 형태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350" b="1">
                <a:solidFill>
                  <a:srgbClr val="1B2733"/>
                </a:solidFill>
                <a:latin typeface="Malgun Gothic"/>
              </a:rPr>
              <a:t>기관 서버 설치형 — </a:t>
            </a:r>
            <a:r>
              <a:rPr sz="1350" b="0">
                <a:solidFill>
                  <a:srgbClr val="1B2733"/>
                </a:solidFill>
                <a:latin typeface="Malgun Gothic"/>
              </a:rPr>
              <a:t>프로세스 세 개를 한 대에 몰아 두어도 되고, 세 대로 나누어도 됩니다. 클라우드 계정이나 외부 SaaS와는 연동하지 않습니다.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350" b="1">
                <a:solidFill>
                  <a:srgbClr val="1B2733"/>
                </a:solidFill>
                <a:latin typeface="Malgun Gothic"/>
              </a:rPr>
              <a:t>망분리 환경 — </a:t>
            </a:r>
            <a:r>
              <a:rPr sz="1350" b="0">
                <a:solidFill>
                  <a:srgbClr val="1B2733"/>
                </a:solidFill>
                <a:latin typeface="Malgun Gothic"/>
              </a:rPr>
              <a:t>AI 사이드카를 제외하고 core와 portal만 운영하거나, LLM 호출만 DMZ의 squid로 내보냅니다.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E8A020"/>
                </a:solidFill>
                <a:latin typeface="Malgun Gothic"/>
              </a:rPr>
              <a:t>•  </a:t>
            </a:r>
            <a:r>
              <a:rPr sz="1350" b="1">
                <a:solidFill>
                  <a:srgbClr val="1B2733"/>
                </a:solidFill>
                <a:latin typeface="Malgun Gothic"/>
              </a:rPr>
              <a:t>LLM 금지 사업 — </a:t>
            </a:r>
            <a:r>
              <a:rPr sz="1350" b="0">
                <a:solidFill>
                  <a:srgbClr val="1B2733"/>
                </a:solidFill>
                <a:latin typeface="Malgun Gothic"/>
              </a:rPr>
              <a:t>답변 방식을 extract 또는 rule로 고정하며, 제품 자체는 변경하지 않습니다.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n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876349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제품 소개 · 문의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1">
                <a:solidFill>
                  <a:srgbClr val="E8A020"/>
                </a:solidFill>
                <a:latin typeface="Malgun Gothic"/>
              </a:rPr>
              <a:t>제품 페이지  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mhb8436.github.io/moru-release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1">
                <a:solidFill>
                  <a:srgbClr val="E8A020"/>
                </a:solidFill>
                <a:latin typeface="Malgun Gothic"/>
              </a:rPr>
              <a:t>동작 영상 · 소개서  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github.com/mhb8436/moru-release (Releases v1.1)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1">
                <a:solidFill>
                  <a:srgbClr val="E8A020"/>
                </a:solidFill>
                <a:latin typeface="Malgun Gothic"/>
              </a:rPr>
              <a:t>시연  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로컬 한 대에서 ./deploy/run.sh 실행 후 http://127.0.0.1:3000 으로 접속하며, 준비 시간은 5분입니다.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500" b="0">
                <a:solidFill>
                  <a:srgbClr val="CFD8E3"/>
                </a:solidFill>
                <a:latin typeface="Malgun Gothic"/>
              </a:rPr>
              <a:t>담당자  ____________________      전화  ____________________      전자우편  ____________________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500" b="0">
                <a:solidFill>
                  <a:srgbClr val="CFD8E3"/>
                </a:solidFill>
                <a:latin typeface="Malgun Gothic"/>
              </a:rPr>
              <a:t>주식회사 크래프틱시스템즈 · MORU(모루) 공공포털 플랫폼 v1.1 · 2026년 6월 29일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